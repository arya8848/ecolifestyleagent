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YA L" initials="AL" lastIdx="2" clrIdx="0">
    <p:extLst>
      <p:ext uri="{19B8F6BF-5375-455C-9EA6-DF929625EA0E}">
        <p15:presenceInfo xmlns:p15="http://schemas.microsoft.com/office/powerpoint/2012/main" userId="1c137d4ca512fe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01E4E7-C071-47B8-A344-256AD93AD861}" v="10" dt="2026-07-11T11:25:05.428"/>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 L" userId="1c137d4ca512fe99" providerId="LiveId" clId="{B6FCF3C7-3383-494A-9E36-EA252B0CC90A}"/>
    <pc:docChg chg="undo custSel modSld">
      <pc:chgData name="ARYA L" userId="1c137d4ca512fe99" providerId="LiveId" clId="{B6FCF3C7-3383-494A-9E36-EA252B0CC90A}" dt="2026-07-11T11:26:49.586" v="320" actId="1076"/>
      <pc:docMkLst>
        <pc:docMk/>
      </pc:docMkLst>
      <pc:sldChg chg="delSp modSp mod">
        <pc:chgData name="ARYA L" userId="1c137d4ca512fe99" providerId="LiveId" clId="{B6FCF3C7-3383-494A-9E36-EA252B0CC90A}" dt="2026-07-10T19:30:22.651" v="100" actId="21"/>
        <pc:sldMkLst>
          <pc:docMk/>
          <pc:sldMk cId="0" sldId="257"/>
        </pc:sldMkLst>
        <pc:spChg chg="del mod">
          <ac:chgData name="ARYA L" userId="1c137d4ca512fe99" providerId="LiveId" clId="{B6FCF3C7-3383-494A-9E36-EA252B0CC90A}" dt="2026-07-10T19:30:22.651" v="100" actId="21"/>
          <ac:spMkLst>
            <pc:docMk/>
            <pc:sldMk cId="0" sldId="257"/>
            <ac:spMk id="90" creationId="{00000000-0000-0000-0000-000000000000}"/>
          </ac:spMkLst>
        </pc:spChg>
      </pc:sldChg>
      <pc:sldChg chg="addSp modSp mod">
        <pc:chgData name="ARYA L" userId="1c137d4ca512fe99" providerId="LiveId" clId="{B6FCF3C7-3383-494A-9E36-EA252B0CC90A}" dt="2026-07-11T11:14:47.374" v="197" actId="1076"/>
        <pc:sldMkLst>
          <pc:docMk/>
          <pc:sldMk cId="0" sldId="265"/>
        </pc:sldMkLst>
        <pc:spChg chg="add mod">
          <ac:chgData name="ARYA L" userId="1c137d4ca512fe99" providerId="LiveId" clId="{B6FCF3C7-3383-494A-9E36-EA252B0CC90A}" dt="2026-07-11T11:00:34.749" v="137" actId="14100"/>
          <ac:spMkLst>
            <pc:docMk/>
            <pc:sldMk cId="0" sldId="265"/>
            <ac:spMk id="2" creationId="{9B5AF33B-DDB9-E6FC-A295-E14E19BD25E0}"/>
          </ac:spMkLst>
        </pc:spChg>
        <pc:spChg chg="add mod">
          <ac:chgData name="ARYA L" userId="1c137d4ca512fe99" providerId="LiveId" clId="{B6FCF3C7-3383-494A-9E36-EA252B0CC90A}" dt="2026-07-11T11:14:47.374" v="197" actId="1076"/>
          <ac:spMkLst>
            <pc:docMk/>
            <pc:sldMk cId="0" sldId="265"/>
            <ac:spMk id="3" creationId="{3C9B28BC-91F7-CE9C-393B-CAEB6678C5BE}"/>
          </ac:spMkLst>
        </pc:spChg>
        <pc:spChg chg="mod">
          <ac:chgData name="ARYA L" userId="1c137d4ca512fe99" providerId="LiveId" clId="{B6FCF3C7-3383-494A-9E36-EA252B0CC90A}" dt="2026-07-11T11:00:42.906" v="138" actId="1076"/>
          <ac:spMkLst>
            <pc:docMk/>
            <pc:sldMk cId="0" sldId="265"/>
            <ac:spMk id="144" creationId="{00000000-0000-0000-0000-000000000000}"/>
          </ac:spMkLst>
        </pc:spChg>
        <pc:spChg chg="mod">
          <ac:chgData name="ARYA L" userId="1c137d4ca512fe99" providerId="LiveId" clId="{B6FCF3C7-3383-494A-9E36-EA252B0CC90A}" dt="2026-07-11T11:14:28.760" v="195" actId="2710"/>
          <ac:spMkLst>
            <pc:docMk/>
            <pc:sldMk cId="0" sldId="265"/>
            <ac:spMk id="147" creationId="{00000000-0000-0000-0000-000000000000}"/>
          </ac:spMkLst>
        </pc:spChg>
        <pc:spChg chg="mod">
          <ac:chgData name="ARYA L" userId="1c137d4ca512fe99" providerId="LiveId" clId="{B6FCF3C7-3383-494A-9E36-EA252B0CC90A}" dt="2026-07-11T10:57:26.279" v="132" actId="113"/>
          <ac:spMkLst>
            <pc:docMk/>
            <pc:sldMk cId="0" sldId="265"/>
            <ac:spMk id="152" creationId="{00000000-0000-0000-0000-000000000000}"/>
          </ac:spMkLst>
        </pc:spChg>
      </pc:sldChg>
      <pc:sldChg chg="delSp modSp mod">
        <pc:chgData name="ARYA L" userId="1c137d4ca512fe99" providerId="LiveId" clId="{B6FCF3C7-3383-494A-9E36-EA252B0CC90A}" dt="2026-07-11T11:25:42.463" v="318" actId="12"/>
        <pc:sldMkLst>
          <pc:docMk/>
          <pc:sldMk cId="0" sldId="267"/>
        </pc:sldMkLst>
        <pc:spChg chg="mod">
          <ac:chgData name="ARYA L" userId="1c137d4ca512fe99" providerId="LiveId" clId="{B6FCF3C7-3383-494A-9E36-EA252B0CC90A}" dt="2026-07-11T11:25:42.463" v="318" actId="12"/>
          <ac:spMkLst>
            <pc:docMk/>
            <pc:sldMk cId="0" sldId="267"/>
            <ac:spMk id="164" creationId="{00000000-0000-0000-0000-000000000000}"/>
          </ac:spMkLst>
        </pc:spChg>
        <pc:spChg chg="del mod">
          <ac:chgData name="ARYA L" userId="1c137d4ca512fe99" providerId="LiveId" clId="{B6FCF3C7-3383-494A-9E36-EA252B0CC90A}" dt="2026-07-11T11:25:29.126" v="314" actId="21"/>
          <ac:spMkLst>
            <pc:docMk/>
            <pc:sldMk cId="0" sldId="267"/>
            <ac:spMk id="165" creationId="{00000000-0000-0000-0000-000000000000}"/>
          </ac:spMkLst>
        </pc:spChg>
      </pc:sldChg>
      <pc:sldChg chg="modSp mod">
        <pc:chgData name="ARYA L" userId="1c137d4ca512fe99" providerId="LiveId" clId="{B6FCF3C7-3383-494A-9E36-EA252B0CC90A}" dt="2026-07-11T11:26:49.586" v="320" actId="1076"/>
        <pc:sldMkLst>
          <pc:docMk/>
          <pc:sldMk cId="0" sldId="269"/>
        </pc:sldMkLst>
        <pc:picChg chg="mod">
          <ac:chgData name="ARYA L" userId="1c137d4ca512fe99" providerId="LiveId" clId="{B6FCF3C7-3383-494A-9E36-EA252B0CC90A}" dt="2026-07-11T11:26:49.586" v="320" actId="1076"/>
          <ac:picMkLst>
            <pc:docMk/>
            <pc:sldMk cId="0" sldId="269"/>
            <ac:picMk id="181" creationId="{00000000-0000-0000-0000-000000000000}"/>
          </ac:picMkLst>
        </pc:picChg>
      </pc:sldChg>
      <pc:sldChg chg="modSp mod">
        <pc:chgData name="ARYA L" userId="1c137d4ca512fe99" providerId="LiveId" clId="{B6FCF3C7-3383-494A-9E36-EA252B0CC90A}" dt="2026-07-11T11:26:35.290" v="319" actId="1076"/>
        <pc:sldMkLst>
          <pc:docMk/>
          <pc:sldMk cId="1623893963" sldId="272"/>
        </pc:sldMkLst>
        <pc:picChg chg="mod">
          <ac:chgData name="ARYA L" userId="1c137d4ca512fe99" providerId="LiveId" clId="{B6FCF3C7-3383-494A-9E36-EA252B0CC90A}" dt="2026-07-11T11:26:35.290" v="319" actId="1076"/>
          <ac:picMkLst>
            <pc:docMk/>
            <pc:sldMk cId="1623893963" sldId="272"/>
            <ac:picMk id="5" creationId="{CB61CD83-5E97-7805-270D-0733C76E106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4149562960"/>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Arya L</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aryaarya6175@gmail.com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2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8848536948</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87" name="Google Shape;87;p2"/>
          <p:cNvPicPr preferRelativeResize="0"/>
          <p:nvPr/>
        </p:nvPicPr>
        <p:blipFill>
          <a:blip r:embed="rId3">
            <a:alphaModFix/>
          </a:blip>
          <a:srcRect/>
          <a:stretch/>
        </p:blipFill>
        <p:spPr>
          <a:xfrm>
            <a:off x="4041058" y="3738417"/>
            <a:ext cx="712541" cy="801811"/>
          </a:xfrm>
          <a:prstGeom prst="rect">
            <a:avLst/>
          </a:prstGeom>
          <a:noFill/>
          <a:ln>
            <a:noFill/>
          </a:ln>
        </p:spPr>
      </p:pic>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	Domain of  Project – </a:t>
            </a:r>
            <a:r>
              <a:rPr lang="en-IN" sz="2400" b="1" dirty="0"/>
              <a:t>Environment &amp; Sustainability</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dirty="0"/>
              <a:t>			</a:t>
            </a:r>
            <a:r>
              <a:rPr lang="en-IN" sz="2400" b="1" dirty="0"/>
              <a:t>Eco Lifestyle Agent</a:t>
            </a:r>
            <a:endParaRPr lang="en-IN" sz="2400" dirty="0"/>
          </a:p>
          <a:p>
            <a:pPr marL="0" marR="0" lvl="0" indent="0" algn="l" rtl="0">
              <a:lnSpc>
                <a:spcPct val="100000"/>
              </a:lnSpc>
              <a:spcBef>
                <a:spcPts val="0"/>
              </a:spcBef>
              <a:spcAft>
                <a:spcPts val="0"/>
              </a:spcAft>
              <a:buNone/>
            </a:pPr>
            <a:endParaRPr sz="2400" b="1"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6938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Problem Statement :  Eco Lifestyle Agent</a:t>
            </a:r>
            <a:endParaRPr lang="en-US" dirty="0"/>
          </a:p>
          <a:p>
            <a:pPr marL="0" marR="0" lvl="0" indent="0" algn="l" rtl="0">
              <a:lnSpc>
                <a:spcPct val="100000"/>
              </a:lnSpc>
              <a:spcBef>
                <a:spcPts val="0"/>
              </a:spcBef>
              <a:spcAft>
                <a:spcPts val="0"/>
              </a:spcAft>
              <a:buNone/>
            </a:pPr>
            <a:endParaRPr lang="en-US"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Challenge</a:t>
            </a:r>
            <a:r>
              <a:rPr lang="en-US" b="0" i="0" u="none" strike="noStrike" cap="none" dirty="0">
                <a:solidFill>
                  <a:srgbClr val="000000"/>
                </a:solidFill>
                <a:latin typeface="Arial"/>
                <a:ea typeface="Arial"/>
                <a:cs typeface="Arial"/>
                <a:sym typeface="Arial"/>
              </a:rPr>
              <a:t> </a:t>
            </a:r>
            <a:endParaRPr dirty="0"/>
          </a:p>
          <a:p>
            <a:pPr lvl="0"/>
            <a:r>
              <a:rPr lang="en-IN" dirty="0"/>
              <a:t>Environmental issues such as </a:t>
            </a:r>
            <a:r>
              <a:rPr lang="en-IN" b="1" dirty="0"/>
              <a:t>plastic pollution, improper waste management, excessive energy consumption, water scarcity, and climate change</a:t>
            </a:r>
            <a:r>
              <a:rPr lang="en-IN" dirty="0"/>
              <a:t> continue to increase due to a lack of awareness and easy access to reliable sustainability information. Many people struggle to find </a:t>
            </a:r>
            <a:r>
              <a:rPr lang="en-IN" b="1" dirty="0"/>
              <a:t>accurate, trustworthy, and personalized eco-friendly guidance</a:t>
            </a:r>
            <a:r>
              <a:rPr lang="en-IN" dirty="0"/>
              <a:t>, as environmental information is often scattered across multiple sources. Without </a:t>
            </a:r>
            <a:r>
              <a:rPr lang="en-IN" b="1" dirty="0"/>
              <a:t>AI-powered, real-time assistance</a:t>
            </a:r>
            <a:r>
              <a:rPr lang="en-IN" dirty="0"/>
              <a:t>, individuals may find it difficult to adopt sustainable habits in their daily lives.</a:t>
            </a:r>
            <a:r>
              <a:rPr lang="en-US"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Objective</a:t>
            </a:r>
            <a:r>
              <a:rPr lang="en-US" b="0" i="0" u="none" strike="noStrike" cap="none" dirty="0">
                <a:solidFill>
                  <a:srgbClr val="000000"/>
                </a:solidFill>
                <a:latin typeface="Arial"/>
                <a:ea typeface="Arial"/>
                <a:cs typeface="Arial"/>
                <a:sym typeface="Arial"/>
              </a:rPr>
              <a:t> </a:t>
            </a:r>
            <a:endParaRPr dirty="0"/>
          </a:p>
          <a:p>
            <a:pPr lvl="0"/>
            <a:r>
              <a:rPr lang="en-IN" dirty="0"/>
              <a:t>Build an </a:t>
            </a:r>
            <a:r>
              <a:rPr lang="en-IN" b="1" dirty="0"/>
              <a:t>AI-powered Eco Lifestyle Agent</a:t>
            </a:r>
            <a:r>
              <a:rPr lang="en-IN" dirty="0"/>
              <a:t> that provides </a:t>
            </a:r>
            <a:r>
              <a:rPr lang="en-IN" b="1" dirty="0"/>
              <a:t>personalized environmental guidance and sustainable living recommendations</a:t>
            </a:r>
            <a:r>
              <a:rPr lang="en-IN" dirty="0"/>
              <a:t> using trusted government documents and AI. The solution should</a:t>
            </a:r>
            <a:r>
              <a:rPr lang="en-US" b="0" i="0" u="none" strike="noStrike" cap="none" dirty="0">
                <a:solidFill>
                  <a:srgbClr val="000000"/>
                </a:solidFill>
                <a:latin typeface="Arial"/>
                <a:ea typeface="Arial"/>
                <a:cs typeface="Arial"/>
                <a:sym typeface="Arial"/>
              </a:rPr>
              <a:t>: </a:t>
            </a:r>
            <a:endParaRPr dirty="0"/>
          </a:p>
          <a:p>
            <a:pPr marL="285750" lvl="0" indent="-285750">
              <a:buSzPts val="1400"/>
              <a:buFont typeface="Arial"/>
              <a:buChar char="•"/>
            </a:pPr>
            <a:r>
              <a:rPr lang="en-IN" b="1" dirty="0"/>
              <a:t>Waste Management Guidance</a:t>
            </a:r>
            <a:r>
              <a:rPr lang="en-IN" dirty="0"/>
              <a:t> – Recommend proper waste segregation, recycling methods, and responsible disposal practices</a:t>
            </a:r>
            <a:r>
              <a:rPr lang="en-US" b="0" i="0" u="none" strike="noStrike" cap="none" dirty="0">
                <a:solidFill>
                  <a:srgbClr val="000000"/>
                </a:solidFill>
                <a:latin typeface="Arial"/>
                <a:ea typeface="Arial"/>
                <a:cs typeface="Arial"/>
                <a:sym typeface="Arial"/>
              </a:rPr>
              <a:t>. </a:t>
            </a:r>
            <a:endParaRPr dirty="0"/>
          </a:p>
          <a:p>
            <a:pPr marL="285750" lvl="0" indent="-285750">
              <a:buSzPts val="1400"/>
              <a:buFont typeface="Arial"/>
              <a:buChar char="•"/>
            </a:pPr>
            <a:r>
              <a:rPr lang="en-IN" b="1" dirty="0"/>
              <a:t>Plastic Reduction Suggestions</a:t>
            </a:r>
            <a:r>
              <a:rPr lang="en-IN" dirty="0"/>
              <a:t> – Provide practical ways to reduce single-use plastics and promote sustainable alternatives</a:t>
            </a:r>
            <a:r>
              <a:rPr lang="en-US" b="0" i="0" u="none" strike="noStrike" cap="none" dirty="0">
                <a:solidFill>
                  <a:srgbClr val="000000"/>
                </a:solidFill>
                <a:latin typeface="Arial"/>
                <a:ea typeface="Arial"/>
                <a:cs typeface="Arial"/>
                <a:sym typeface="Arial"/>
              </a:rPr>
              <a:t>. </a:t>
            </a:r>
            <a:endParaRPr dirty="0"/>
          </a:p>
          <a:p>
            <a:pPr marL="285750" lvl="0" indent="-285750">
              <a:buSzPts val="1400"/>
              <a:buFont typeface="Arial"/>
              <a:buChar char="•"/>
            </a:pPr>
            <a:r>
              <a:rPr lang="en-IN" b="1" dirty="0"/>
              <a:t>Energy Conservation Advice</a:t>
            </a:r>
            <a:r>
              <a:rPr lang="en-IN" dirty="0"/>
              <a:t> – Suggest techniques to save electricity and improve energy efficiency</a:t>
            </a:r>
            <a:r>
              <a:rPr lang="en-US" b="0" i="0" u="none" strike="noStrike" cap="none" dirty="0">
                <a:solidFill>
                  <a:srgbClr val="000000"/>
                </a:solidFill>
                <a:latin typeface="Arial"/>
                <a:ea typeface="Arial"/>
                <a:cs typeface="Arial"/>
                <a:sym typeface="Arial"/>
              </a:rPr>
              <a:t>. </a:t>
            </a:r>
            <a:endParaRPr dirty="0"/>
          </a:p>
          <a:p>
            <a:pPr marL="285750" lvl="0" indent="-285750">
              <a:buSzPts val="1400"/>
              <a:buFont typeface="Arial"/>
              <a:buChar char="•"/>
            </a:pPr>
            <a:r>
              <a:rPr lang="en-IN" b="1" dirty="0"/>
              <a:t>Water Conservation Guidance</a:t>
            </a:r>
            <a:r>
              <a:rPr lang="en-IN" dirty="0"/>
              <a:t> – Recommend effective water-saving practices for homes and communities</a:t>
            </a:r>
            <a:r>
              <a:rPr lang="en-US" b="0" i="0" u="none" strike="noStrike" cap="none" dirty="0">
                <a:solidFill>
                  <a:srgbClr val="000000"/>
                </a:solidFill>
                <a:latin typeface="Arial"/>
                <a:ea typeface="Arial"/>
                <a:cs typeface="Arial"/>
                <a:sym typeface="Arial"/>
              </a:rPr>
              <a:t>. </a:t>
            </a:r>
            <a:endParaRPr dirty="0"/>
          </a:p>
          <a:p>
            <a:pPr marL="285750" indent="-285750">
              <a:buSzPts val="1400"/>
              <a:buFont typeface="Arial"/>
              <a:buChar char="•"/>
            </a:pPr>
            <a:r>
              <a:rPr lang="en-IN" b="1" dirty="0"/>
              <a:t>Renewable Energy Awareness</a:t>
            </a:r>
            <a:r>
              <a:rPr lang="en-IN" dirty="0"/>
              <a:t> – Educate users about renewable energy sources and their environmental benefits</a:t>
            </a:r>
            <a:r>
              <a:rPr lang="en-US" dirty="0"/>
              <a:t>. </a:t>
            </a:r>
          </a:p>
          <a:p>
            <a:pPr marL="285750" indent="-285750">
              <a:buSzPts val="1400"/>
              <a:buFont typeface="Arial"/>
              <a:buChar char="•"/>
            </a:pPr>
            <a:r>
              <a:rPr lang="en-IN" b="1" dirty="0"/>
              <a:t>Document-based RAG Retrieval</a:t>
            </a:r>
            <a:r>
              <a:rPr lang="en-IN" dirty="0"/>
              <a:t> – Retrieve accurate information from government environmental PDF documents using Retrieval-Augmented Generation (RAG)</a:t>
            </a:r>
            <a:r>
              <a:rPr lang="en-US" dirty="0"/>
              <a:t>. </a:t>
            </a:r>
          </a:p>
          <a:p>
            <a:pPr marL="285750" indent="-285750">
              <a:buSzPts val="1400"/>
              <a:buFont typeface="Arial"/>
              <a:buChar char="•"/>
            </a:pPr>
            <a:r>
              <a:rPr lang="en-IN" b="1" dirty="0"/>
              <a:t>AI-powered Question Answering</a:t>
            </a:r>
            <a:r>
              <a:rPr lang="en-IN" dirty="0"/>
              <a:t> – Generate reliable and easy-to-understand responses using the IBM Granite Foundation Model</a:t>
            </a:r>
            <a:r>
              <a:rPr lang="en-US" dirty="0"/>
              <a:t>. </a:t>
            </a:r>
            <a:endParaRPr lang="en-US" b="1" i="0" u="none" strike="noStrike" cap="none" dirty="0">
              <a:solidFill>
                <a:srgbClr val="000000"/>
              </a:solidFill>
              <a:latin typeface="Arial"/>
              <a:ea typeface="Arial"/>
              <a:cs typeface="Arial"/>
              <a:sym typeface="Arial"/>
            </a:endParaRPr>
          </a:p>
          <a:p>
            <a:pPr marL="285750" lvl="0" indent="-285750">
              <a:buSzPts val="1400"/>
              <a:buFont typeface="Arial"/>
              <a:buChar char="•"/>
            </a:pPr>
            <a:r>
              <a:rPr lang="en-IN" b="1" dirty="0"/>
              <a:t>Interactive Eco Assistant</a:t>
            </a:r>
            <a:r>
              <a:rPr lang="en-IN" dirty="0"/>
              <a:t> – Provide users with a simple chatbot interface to ask environmental and sustainability-related questions in natural language</a:t>
            </a:r>
            <a:r>
              <a:rPr lang="en-US"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Proposed Solution: AI-Powered </a:t>
            </a:r>
            <a:r>
              <a:rPr lang="en-US" b="1" dirty="0"/>
              <a:t>Eco </a:t>
            </a:r>
            <a:r>
              <a:rPr lang="en-US" b="1" dirty="0" err="1"/>
              <a:t>Lifestyle</a:t>
            </a:r>
            <a:r>
              <a:rPr lang="en-US" sz="1400" b="1" i="0" u="none" strike="noStrike" cap="none" dirty="0" err="1">
                <a:solidFill>
                  <a:srgbClr val="000000"/>
                </a:solidFill>
                <a:latin typeface="Arial"/>
                <a:ea typeface="Arial"/>
                <a:cs typeface="Arial"/>
                <a:sym typeface="Arial"/>
              </a:rPr>
              <a:t>Agent</a:t>
            </a:r>
            <a:endParaRPr lang="en-US"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dirty="0"/>
          </a:p>
          <a:p>
            <a:r>
              <a:rPr lang="en-IN" dirty="0"/>
              <a:t>	The proposed solution is an </a:t>
            </a:r>
            <a:r>
              <a:rPr lang="en-IN" b="1" dirty="0"/>
              <a:t>AI-powered Eco Lifestyle Agent</a:t>
            </a:r>
            <a:r>
              <a:rPr lang="en-IN" dirty="0"/>
              <a:t> developed using </a:t>
            </a:r>
            <a:r>
              <a:rPr lang="en-IN" b="1" dirty="0"/>
              <a:t>IBM watsonx.ai, IBM Granite, Retrieval-Augmented Generation (RAG), FAISS, and </a:t>
            </a:r>
            <a:r>
              <a:rPr lang="en-IN" b="1" dirty="0" err="1"/>
              <a:t>Streamlit</a:t>
            </a:r>
            <a:r>
              <a:rPr lang="en-IN" dirty="0"/>
              <a:t>. It provides users with reliable and personalized guidance on sustainable living by answering environmental queries using trusted government documents.</a:t>
            </a:r>
          </a:p>
          <a:p>
            <a:r>
              <a:rPr lang="en-IN" dirty="0"/>
              <a:t>The system uses a </a:t>
            </a:r>
            <a:r>
              <a:rPr lang="en-IN" b="1" dirty="0"/>
              <a:t>RAG pipeline</a:t>
            </a:r>
            <a:r>
              <a:rPr lang="en-IN" dirty="0"/>
              <a:t> to retrieve relevant information from environmental PDF documents. These documents are converted into vector embeddings using </a:t>
            </a:r>
            <a:r>
              <a:rPr lang="en-IN" b="1" dirty="0"/>
              <a:t>Hugging Face Embeddings</a:t>
            </a:r>
            <a:r>
              <a:rPr lang="en-IN" dirty="0"/>
              <a:t> and stored in a </a:t>
            </a:r>
            <a:r>
              <a:rPr lang="en-IN" b="1" dirty="0"/>
              <a:t>FAISS vector database</a:t>
            </a:r>
            <a:r>
              <a:rPr lang="en-IN" dirty="0"/>
              <a:t>. When a user asks a question, the most relevant document sections are retrieved and passed to the </a:t>
            </a:r>
            <a:r>
              <a:rPr lang="en-IN" b="1" dirty="0"/>
              <a:t>IBM Granite</a:t>
            </a:r>
            <a:r>
              <a:rPr lang="en-IN" dirty="0"/>
              <a:t> model to generate an accurate, natural-language response</a:t>
            </a: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The system consists of following key </a:t>
            </a:r>
            <a:r>
              <a:rPr lang="en-US" dirty="0"/>
              <a:t>componen</a:t>
            </a:r>
            <a:r>
              <a:rPr lang="en-US" sz="1400" b="0" i="0" u="none" strike="noStrike" cap="none" dirty="0">
                <a:solidFill>
                  <a:srgbClr val="000000"/>
                </a:solidFill>
                <a:latin typeface="Arial"/>
                <a:ea typeface="Arial"/>
                <a:cs typeface="Arial"/>
                <a:sym typeface="Arial"/>
              </a:rPr>
              <a:t>ts:</a:t>
            </a:r>
          </a:p>
          <a:p>
            <a:pPr marL="0" marR="0" lvl="0" indent="0" algn="l" rtl="0">
              <a:lnSpc>
                <a:spcPct val="100000"/>
              </a:lnSpc>
              <a:spcBef>
                <a:spcPts val="0"/>
              </a:spcBef>
              <a:spcAft>
                <a:spcPts val="0"/>
              </a:spcAft>
              <a:buNone/>
            </a:pPr>
            <a:endParaRPr dirty="0"/>
          </a:p>
          <a:p>
            <a:pPr marL="285750" lvl="0" indent="-285750">
              <a:buFont typeface="Arial" panose="020B0604020202020204" pitchFamily="34" charset="0"/>
              <a:buChar char="•"/>
            </a:pPr>
            <a:r>
              <a:rPr lang="en-IN" b="1" dirty="0"/>
              <a:t>Knowledge Retrieval Module</a:t>
            </a:r>
            <a:r>
              <a:rPr lang="en-IN" dirty="0"/>
              <a:t> – Searches the FAISS vector database to retrieve the most relevant environmental information using semantic search</a:t>
            </a:r>
            <a:r>
              <a:rPr lang="en-US" sz="1400" b="0" i="0" u="none" strike="noStrike" cap="none" dirty="0">
                <a:solidFill>
                  <a:srgbClr val="000000"/>
                </a:solidFill>
                <a:latin typeface="Arial"/>
                <a:ea typeface="Arial"/>
                <a:cs typeface="Arial"/>
                <a:sym typeface="Arial"/>
              </a:rPr>
              <a:t>. </a:t>
            </a:r>
            <a:endParaRPr dirty="0"/>
          </a:p>
          <a:p>
            <a:pPr marL="285750" lvl="0" indent="-285750">
              <a:buFont typeface="Arial" panose="020B0604020202020204" pitchFamily="34" charset="0"/>
              <a:buChar char="•"/>
            </a:pPr>
            <a:r>
              <a:rPr lang="en-IN" b="1" dirty="0"/>
              <a:t>AI Response Generation Module</a:t>
            </a:r>
            <a:r>
              <a:rPr lang="en-IN" dirty="0"/>
              <a:t> – Uses IBM Granite to generate natural language answers based only on the retrieved document context</a:t>
            </a:r>
            <a:r>
              <a:rPr lang="en-US" sz="1400" b="0" i="0" u="none" strike="noStrike" cap="none" dirty="0">
                <a:solidFill>
                  <a:srgbClr val="000000"/>
                </a:solidFill>
                <a:latin typeface="Arial"/>
                <a:ea typeface="Arial"/>
                <a:cs typeface="Arial"/>
                <a:sym typeface="Arial"/>
              </a:rPr>
              <a:t>. </a:t>
            </a:r>
            <a:endParaRPr dirty="0"/>
          </a:p>
          <a:p>
            <a:pPr marL="285750" lvl="0" indent="-285750">
              <a:buFont typeface="Arial" panose="020B0604020202020204" pitchFamily="34" charset="0"/>
              <a:buChar char="•"/>
            </a:pPr>
            <a:r>
              <a:rPr lang="en-IN" b="1" dirty="0"/>
              <a:t>Environmental Knowledge Base</a:t>
            </a:r>
            <a:r>
              <a:rPr lang="en-IN" dirty="0"/>
              <a:t> – Stores trusted government documents covering waste management, plastic waste rules, renewable energy, water conservation, and sustainable practices</a:t>
            </a:r>
            <a:r>
              <a:rPr lang="en-US" sz="1400" b="0" i="0" u="none" strike="noStrike" cap="none" dirty="0">
                <a:solidFill>
                  <a:srgbClr val="000000"/>
                </a:solidFill>
                <a:latin typeface="Arial"/>
                <a:ea typeface="Arial"/>
                <a:cs typeface="Arial"/>
                <a:sym typeface="Arial"/>
              </a:rPr>
              <a:t>. </a:t>
            </a:r>
            <a:endParaRPr dirty="0"/>
          </a:p>
          <a:p>
            <a:pPr marL="285750" lvl="0" indent="-285750">
              <a:buFont typeface="Arial" panose="020B0604020202020204" pitchFamily="34" charset="0"/>
              <a:buChar char="•"/>
            </a:pPr>
            <a:r>
              <a:rPr lang="en-IN" b="1" dirty="0"/>
              <a:t>Interactive Chat Interface</a:t>
            </a:r>
            <a:r>
              <a:rPr lang="en-IN" dirty="0"/>
              <a:t> – Provides a user-friendly </a:t>
            </a:r>
            <a:r>
              <a:rPr lang="en-IN" dirty="0" err="1"/>
              <a:t>Streamlit</a:t>
            </a:r>
            <a:r>
              <a:rPr lang="en-IN" dirty="0"/>
              <a:t> web application where users can ask environmental questions in natural language and receive AI-generated responses</a:t>
            </a:r>
            <a:r>
              <a:rPr lang="en-US" sz="1400" b="0" i="0" u="none" strike="noStrike" cap="none" dirty="0">
                <a:solidFill>
                  <a:srgbClr val="000000"/>
                </a:solidFill>
                <a:latin typeface="Arial"/>
                <a:ea typeface="Arial"/>
                <a:cs typeface="Arial"/>
                <a:sym typeface="Arial"/>
              </a:rPr>
              <a:t>.</a:t>
            </a:r>
            <a:endParaRPr dirty="0"/>
          </a:p>
          <a:p>
            <a:pPr marL="285750" lvl="0" indent="-285750">
              <a:buFont typeface="Arial" panose="020B0604020202020204" pitchFamily="34" charset="0"/>
              <a:buChar char="•"/>
            </a:pPr>
            <a:r>
              <a:rPr lang="en-IN" b="1" dirty="0"/>
              <a:t>Document Processing Pipeline</a:t>
            </a:r>
            <a:r>
              <a:rPr lang="en-IN" dirty="0"/>
              <a:t> – Automatically extracts text from PDF documents, creates embeddings, and updates the vector database for future retrieval</a:t>
            </a:r>
            <a:r>
              <a:rPr lang="en-US" sz="1400" b="0" i="0" u="none" strike="noStrike" cap="none" dirty="0">
                <a:solidFill>
                  <a:srgbClr val="000000"/>
                </a:solidFill>
                <a:latin typeface="Arial"/>
                <a:ea typeface="Arial"/>
                <a:cs typeface="Arial"/>
                <a:sym typeface="Arial"/>
              </a:rPr>
              <a:t>.</a:t>
            </a:r>
            <a:endParaRPr dirty="0"/>
          </a:p>
        </p:txBody>
      </p:sp>
      <p:sp>
        <p:nvSpPr>
          <p:cNvPr id="102" name="Google Shape;102;p35"/>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225325"/>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a:t>
            </a:r>
            <a:r>
              <a:rPr lang="en-US" sz="2400" b="1" i="0" u="none" strike="noStrike" cap="none" dirty="0">
                <a:solidFill>
                  <a:srgbClr val="000000"/>
                </a:solidFill>
                <a:latin typeface="Arial"/>
                <a:ea typeface="Arial"/>
                <a:cs typeface="Arial"/>
                <a:sym typeface="Arial"/>
              </a:rPr>
              <a:t> </a:t>
            </a:r>
            <a:r>
              <a:rPr lang="en-US" sz="2800" b="1" i="0" u="none" strike="noStrike" cap="none" dirty="0">
                <a:solidFill>
                  <a:srgbClr val="000000"/>
                </a:solidFill>
                <a:latin typeface="Arial"/>
                <a:ea typeface="Arial"/>
                <a:cs typeface="Arial"/>
                <a:sym typeface="Arial"/>
              </a:rPr>
              <a:t>Used</a:t>
            </a:r>
            <a:endParaRPr sz="28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77240" y="879462"/>
            <a:ext cx="10515600" cy="6032380"/>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a:buChar char="•"/>
            </a:pPr>
            <a:r>
              <a:rPr lang="en-IN" b="1" dirty="0"/>
              <a:t>IBM Granite Model (</a:t>
            </a:r>
            <a:r>
              <a:rPr lang="en-IN" b="1" dirty="0" err="1"/>
              <a:t>ibm</a:t>
            </a:r>
            <a:r>
              <a:rPr lang="en-IN" b="1" dirty="0"/>
              <a:t>/granite-4-h-small)</a:t>
            </a:r>
            <a:r>
              <a:rPr lang="en-IN" dirty="0"/>
              <a:t> – Used for natural language understanding and generating intelligent, context-aware responses to users' environmental queries.</a:t>
            </a:r>
            <a:endParaRPr lang="en-US" dirty="0"/>
          </a:p>
          <a:p>
            <a:pPr marL="285750" marR="0" lvl="0" indent="-171450" algn="l" rtl="0">
              <a:lnSpc>
                <a:spcPct val="100000"/>
              </a:lnSpc>
              <a:spcBef>
                <a:spcPts val="0"/>
              </a:spcBef>
              <a:spcAft>
                <a:spcPts val="0"/>
              </a:spcAft>
              <a:buClr>
                <a:srgbClr val="000000"/>
              </a:buClr>
              <a:buSzPts val="1800"/>
              <a:buFont typeface="Arial"/>
              <a:buNone/>
            </a:pPr>
            <a:endParaRPr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b="1" dirty="0"/>
              <a:t>IBM watsonx.ai</a:t>
            </a:r>
            <a:r>
              <a:rPr lang="en-IN" dirty="0"/>
              <a:t> – Provides access to the IBM Granite Foundation Model through secure APIs for AI-powered text generation.</a:t>
            </a:r>
            <a:endParaRPr dirty="0"/>
          </a:p>
          <a:p>
            <a:pPr marL="285750" marR="0" lvl="0" indent="-171450" algn="l" rtl="0">
              <a:lnSpc>
                <a:spcPct val="100000"/>
              </a:lnSpc>
              <a:spcBef>
                <a:spcPts val="0"/>
              </a:spcBef>
              <a:spcAft>
                <a:spcPts val="0"/>
              </a:spcAft>
              <a:buClr>
                <a:srgbClr val="000000"/>
              </a:buClr>
              <a:buSzPts val="1800"/>
              <a:buFont typeface="Arial"/>
              <a:buNone/>
            </a:pPr>
            <a:endParaRPr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b="1" dirty="0"/>
              <a:t>IBM Cloud Lite</a:t>
            </a:r>
            <a:r>
              <a:rPr lang="en-IN" dirty="0"/>
              <a:t> – Provides the cloud infrastructure and platform services required to access IBM watsonx.ai and deploy AI applications</a:t>
            </a:r>
            <a:r>
              <a:rPr lang="en-US" b="0" i="0" u="none" strike="noStrike" cap="none" dirty="0">
                <a:solidFill>
                  <a:srgbClr val="000000"/>
                </a:solidFill>
                <a:latin typeface="Arial"/>
                <a:ea typeface="Arial"/>
                <a:cs typeface="Arial"/>
                <a:sym typeface="Arial"/>
              </a:rPr>
              <a:t>.</a:t>
            </a:r>
            <a:endParaRPr dirty="0"/>
          </a:p>
          <a:p>
            <a:pPr marL="285750" marR="0" lvl="0" indent="-171450" algn="l" rtl="0">
              <a:lnSpc>
                <a:spcPct val="100000"/>
              </a:lnSpc>
              <a:spcBef>
                <a:spcPts val="0"/>
              </a:spcBef>
              <a:spcAft>
                <a:spcPts val="0"/>
              </a:spcAft>
              <a:buClr>
                <a:srgbClr val="000000"/>
              </a:buClr>
              <a:buSzPts val="1800"/>
              <a:buFont typeface="Arial"/>
              <a:buNone/>
            </a:pPr>
            <a:endParaRPr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b="1" dirty="0"/>
              <a:t>Retrieval-Augmented Generation (RAG)</a:t>
            </a:r>
            <a:r>
              <a:rPr lang="en-IN" dirty="0"/>
              <a:t> – Retrieves relevant information from environmental government documents before generating responses, improving accuracy and reducing AI hallucinations</a:t>
            </a:r>
            <a:r>
              <a:rPr lang="en-US" b="0" i="0" u="none" strike="noStrike" cap="none" dirty="0">
                <a:solidFill>
                  <a:srgbClr val="000000"/>
                </a:solidFill>
                <a:latin typeface="Arial"/>
                <a:ea typeface="Arial"/>
                <a:cs typeface="Arial"/>
                <a:sym typeface="Arial"/>
              </a:rPr>
              <a:t>.</a:t>
            </a:r>
            <a:endParaRPr dirty="0"/>
          </a:p>
          <a:p>
            <a:pPr marL="285750" marR="0" lvl="0" indent="-171450" algn="l" rtl="0">
              <a:lnSpc>
                <a:spcPct val="100000"/>
              </a:lnSpc>
              <a:spcBef>
                <a:spcPts val="0"/>
              </a:spcBef>
              <a:spcAft>
                <a:spcPts val="0"/>
              </a:spcAft>
              <a:buClr>
                <a:srgbClr val="000000"/>
              </a:buClr>
              <a:buSzPts val="1800"/>
              <a:buFont typeface="Arial"/>
              <a:buNone/>
            </a:pPr>
            <a:endParaRPr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b="1" dirty="0"/>
              <a:t>FAISS Vector Database</a:t>
            </a:r>
            <a:r>
              <a:rPr lang="en-IN" dirty="0"/>
              <a:t> – Stores vector embeddings of environmental PDF documents and enables fast semantic similarity search for retrieving relevant context.</a:t>
            </a:r>
            <a:endParaRPr dirty="0"/>
          </a:p>
          <a:p>
            <a:pPr marL="285750" marR="0" lvl="0" indent="-171450" algn="l" rtl="0">
              <a:lnSpc>
                <a:spcPct val="100000"/>
              </a:lnSpc>
              <a:spcBef>
                <a:spcPts val="0"/>
              </a:spcBef>
              <a:spcAft>
                <a:spcPts val="0"/>
              </a:spcAft>
              <a:buClr>
                <a:srgbClr val="000000"/>
              </a:buClr>
              <a:buSzPts val="1800"/>
              <a:buFont typeface="Arial"/>
              <a:buNone/>
            </a:pPr>
            <a:endParaRPr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b="1" dirty="0" err="1"/>
              <a:t>LangChain</a:t>
            </a:r>
            <a:r>
              <a:rPr lang="en-IN" dirty="0"/>
              <a:t> – Integrates document loading, text chunking, embeddings, vector database operations, and retrieval into the RAG pipeline</a:t>
            </a:r>
          </a:p>
          <a:p>
            <a:pPr marL="285750" lvl="0" indent="-285750">
              <a:buSzPts val="1800"/>
              <a:buFont typeface="Arial"/>
              <a:buChar char="•"/>
            </a:pPr>
            <a:endParaRPr lang="en-US" dirty="0"/>
          </a:p>
          <a:p>
            <a:pPr marL="285750" lvl="0" indent="-285750">
              <a:buSzPts val="1800"/>
              <a:buFont typeface="Arial"/>
              <a:buChar char="•"/>
            </a:pPr>
            <a:r>
              <a:rPr lang="en-IN" b="1" dirty="0" err="1"/>
              <a:t>Streamlit</a:t>
            </a:r>
            <a:r>
              <a:rPr lang="en-IN" dirty="0"/>
              <a:t> – Provides an interactive web-based chatbot interface where users can ask sustainability and environmental questions.</a:t>
            </a:r>
          </a:p>
          <a:p>
            <a:pPr lvl="0">
              <a:buSzPts val="1800"/>
            </a:pPr>
            <a:endParaRPr lang="en-IN" dirty="0"/>
          </a:p>
          <a:p>
            <a:pPr marL="285750" lvl="0" indent="-285750">
              <a:buSzPts val="1800"/>
              <a:buFont typeface="Arial"/>
              <a:buChar char="•"/>
            </a:pPr>
            <a:r>
              <a:rPr lang="en-IN" b="1" dirty="0" err="1"/>
              <a:t>PyPDF</a:t>
            </a:r>
            <a:r>
              <a:rPr lang="en-IN" dirty="0"/>
              <a:t> – Extracts text from environmental PDF documents used to build the knowledge base.</a:t>
            </a:r>
          </a:p>
          <a:p>
            <a:pPr marL="285750" lvl="0" indent="-285750">
              <a:buSzPts val="1800"/>
              <a:buFont typeface="Arial"/>
              <a:buChar char="•"/>
            </a:pPr>
            <a:endParaRPr lang="en-IN"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b="1" dirty="0" err="1"/>
              <a:t>PyPDF</a:t>
            </a:r>
            <a:r>
              <a:rPr lang="en-IN" dirty="0"/>
              <a:t> – Extracts text from environmental PDF documents used to build the knowledge base.</a:t>
            </a:r>
            <a:endParaRPr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10655294"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lvl="0"/>
            <a:r>
              <a:rPr lang="en-US" b="1" i="0" u="none" strike="noStrike" cap="none" dirty="0">
                <a:solidFill>
                  <a:srgbClr val="000000"/>
                </a:solidFill>
                <a:latin typeface="Arial"/>
                <a:ea typeface="Arial"/>
                <a:cs typeface="Arial"/>
                <a:sym typeface="Arial"/>
              </a:rPr>
              <a:t>1)</a:t>
            </a:r>
            <a:r>
              <a:rPr lang="en-IN" b="1" dirty="0"/>
              <a:t> Chat Input</a:t>
            </a:r>
            <a:r>
              <a:rPr lang="en-IN" dirty="0"/>
              <a:t> – Interface where users enter environmental questions or sustainability-related queries in natural language</a:t>
            </a:r>
            <a:r>
              <a:rPr lang="en-US" b="0" i="0" u="none" strike="noStrike" cap="none" dirty="0">
                <a:solidFill>
                  <a:srgbClr val="000000"/>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lvl="0"/>
            <a:r>
              <a:rPr lang="en-US" b="1" i="0" u="none" strike="noStrike" cap="none" dirty="0">
                <a:solidFill>
                  <a:srgbClr val="000000"/>
                </a:solidFill>
                <a:latin typeface="Arial"/>
                <a:ea typeface="Arial"/>
                <a:cs typeface="Arial"/>
                <a:sym typeface="Arial"/>
              </a:rPr>
              <a:t>2)</a:t>
            </a:r>
            <a:r>
              <a:rPr lang="en-IN" b="1" dirty="0"/>
              <a:t> IBM </a:t>
            </a:r>
            <a:r>
              <a:rPr lang="en-IN" b="1" dirty="0" err="1"/>
              <a:t>watsonx</a:t>
            </a:r>
            <a:r>
              <a:rPr lang="en-IN" b="1" dirty="0"/>
              <a:t> AI Agent</a:t>
            </a:r>
            <a:r>
              <a:rPr lang="en-IN" dirty="0"/>
              <a:t> – Processes user queries using IBM Granite models and generates accurate eco-friendly recommendations based on retrieved information</a:t>
            </a:r>
            <a:r>
              <a:rPr lang="en-US"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lvl="0"/>
            <a:r>
              <a:rPr lang="en-US" b="1" i="0" u="none" strike="noStrike" cap="none" dirty="0">
                <a:solidFill>
                  <a:srgbClr val="000000"/>
                </a:solidFill>
                <a:latin typeface="Arial"/>
                <a:ea typeface="Arial"/>
                <a:cs typeface="Arial"/>
                <a:sym typeface="Arial"/>
              </a:rPr>
              <a:t>3)</a:t>
            </a:r>
            <a:r>
              <a:rPr lang="en-IN" b="1" dirty="0"/>
              <a:t> Name of IBM Granite Model</a:t>
            </a:r>
            <a:r>
              <a:rPr lang="en-IN" dirty="0"/>
              <a:t> – </a:t>
            </a:r>
            <a:r>
              <a:rPr lang="en-IN" b="1" dirty="0"/>
              <a:t>Granite-4.0-8B-Instruct</a:t>
            </a:r>
            <a:r>
              <a:rPr lang="en-IN" dirty="0"/>
              <a:t> </a:t>
            </a:r>
            <a:r>
              <a:rPr lang="en-IN" i="1" dirty="0"/>
              <a:t>(or </a:t>
            </a:r>
            <a:r>
              <a:rPr lang="en-IN" b="1" i="1" dirty="0"/>
              <a:t>Granite-4-h-small</a:t>
            </a:r>
            <a:r>
              <a:rPr lang="en-IN" i="1" dirty="0"/>
              <a:t> if that's the model you actually used in your code)</a:t>
            </a:r>
            <a:r>
              <a:rPr lang="en-IN" dirty="0"/>
              <a:t>       Efficient for real-time environmental question answering and document-based reasoning.</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lvl="0"/>
            <a:r>
              <a:rPr lang="en-US" b="1" i="0" u="none" strike="noStrike" cap="none" dirty="0">
                <a:solidFill>
                  <a:srgbClr val="000000"/>
                </a:solidFill>
                <a:latin typeface="Arial"/>
                <a:ea typeface="Arial"/>
                <a:cs typeface="Arial"/>
                <a:sym typeface="Arial"/>
              </a:rPr>
              <a:t>4)</a:t>
            </a:r>
            <a:r>
              <a:rPr lang="en-IN" b="1" dirty="0"/>
              <a:t> Chat Output</a:t>
            </a:r>
            <a:r>
              <a:rPr lang="en-IN" dirty="0"/>
              <a:t> – Displays AI-generated responses such as waste management guidance, recycling methods, water conservation tips, energy-saving practices, and sustainable lifestyle recommendations</a:t>
            </a:r>
            <a:r>
              <a:rPr lang="en-US"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lvl="0"/>
            <a:r>
              <a:rPr lang="en-US" b="1" i="0" u="none" strike="noStrike" cap="none" dirty="0">
                <a:solidFill>
                  <a:srgbClr val="000000"/>
                </a:solidFill>
                <a:latin typeface="Arial"/>
                <a:ea typeface="Arial"/>
                <a:cs typeface="Arial"/>
                <a:sym typeface="Arial"/>
              </a:rPr>
              <a:t>5)</a:t>
            </a:r>
            <a:r>
              <a:rPr lang="en-IN" b="1" dirty="0"/>
              <a:t> File Component</a:t>
            </a:r>
            <a:r>
              <a:rPr lang="en-IN" dirty="0"/>
              <a:t> – Stores and retrieves environmental PDF documents (government reports, CPCB guidelines, sustainability documents) used for Retrieval-Augmented Generation (RAG).</a:t>
            </a:r>
            <a:endParaRPr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lvl="0"/>
            <a:r>
              <a:rPr lang="en-US" b="0" i="0" u="none" strike="noStrike" cap="none" dirty="0">
                <a:solidFill>
                  <a:srgbClr val="000000"/>
                </a:solidFill>
                <a:latin typeface="Arial"/>
                <a:ea typeface="Arial"/>
                <a:cs typeface="Arial"/>
                <a:sym typeface="Arial"/>
              </a:rPr>
              <a:t>6</a:t>
            </a:r>
            <a:r>
              <a:rPr lang="en-US" b="1" i="0" u="none" strike="noStrike" cap="none" dirty="0">
                <a:solidFill>
                  <a:srgbClr val="000000"/>
                </a:solidFill>
                <a:latin typeface="Arial"/>
                <a:ea typeface="Arial"/>
                <a:cs typeface="Arial"/>
                <a:sym typeface="Arial"/>
              </a:rPr>
              <a:t>)</a:t>
            </a:r>
            <a:r>
              <a:rPr lang="en-IN" b="1" dirty="0"/>
              <a:t> FAISS Vector Store Component</a:t>
            </a:r>
            <a:r>
              <a:rPr lang="en-IN" dirty="0"/>
              <a:t> – Converts document embeddings into a searchable vector database, enabling semantic search to retrieve the most relevant document content before sending it to IBM Granite.</a:t>
            </a: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0" i="0" u="none" strike="noStrike" cap="none" dirty="0">
                <a:solidFill>
                  <a:srgbClr val="000000"/>
                </a:solidFill>
                <a:latin typeface="Arial"/>
                <a:ea typeface="Arial"/>
                <a:cs typeface="Arial"/>
                <a:sym typeface="Arial"/>
              </a:rPr>
              <a:t> </a:t>
            </a:r>
            <a:endParaRPr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6" name="Google Shape;126;p38"/>
          <p:cNvPicPr preferRelativeResize="0"/>
          <p:nvPr/>
        </p:nvPicPr>
        <p:blipFill>
          <a:blip r:embed="rId3">
            <a:alphaModFix/>
          </a:blip>
          <a:srcRect/>
          <a:stretch/>
        </p:blipFill>
        <p:spPr>
          <a:xfrm>
            <a:off x="0" y="0"/>
            <a:ext cx="12191999" cy="6857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132" name="Google Shape;132;p7"/>
          <p:cNvPicPr preferRelativeResize="0"/>
          <p:nvPr/>
        </p:nvPicPr>
        <p:blipFill>
          <a:blip r:embed="rId3">
            <a:alphaModFix/>
          </a:blip>
          <a:srcRect/>
          <a:stretch/>
        </p:blipFill>
        <p:spPr>
          <a:xfrm>
            <a:off x="107016" y="771747"/>
            <a:ext cx="10837210" cy="6181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21792" y="1167493"/>
            <a:ext cx="7406640" cy="24621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Role of Agentic AI in Nutrition Agent</a:t>
            </a:r>
          </a:p>
          <a:p>
            <a:pPr marL="0" marR="0" lvl="0" indent="0" algn="l" rtl="0">
              <a:lnSpc>
                <a:spcPct val="100000"/>
              </a:lnSpc>
              <a:spcBef>
                <a:spcPts val="0"/>
              </a:spcBef>
              <a:spcAft>
                <a:spcPts val="0"/>
              </a:spcAft>
              <a:buNone/>
            </a:pPr>
            <a:endParaRPr lang="en-US" b="1" dirty="0"/>
          </a:p>
          <a:p>
            <a:pPr lvl="0"/>
            <a:r>
              <a:rPr lang="en-IN" dirty="0"/>
              <a:t>Agentic AI enables the </a:t>
            </a:r>
            <a:r>
              <a:rPr lang="en-IN" b="1" dirty="0"/>
              <a:t>Eco Lifestyle Agent</a:t>
            </a:r>
            <a:r>
              <a:rPr lang="en-IN" dirty="0"/>
              <a:t> to function as an intelligent assistant rather than a basic chatbot. Using </a:t>
            </a:r>
            <a:r>
              <a:rPr lang="en-IN" b="1" dirty="0"/>
              <a:t>IBM watsonx.ai</a:t>
            </a:r>
            <a:r>
              <a:rPr lang="en-IN" dirty="0"/>
              <a:t> and the </a:t>
            </a:r>
            <a:r>
              <a:rPr lang="en-IN" b="1" dirty="0"/>
              <a:t>IBM Granite</a:t>
            </a:r>
            <a:r>
              <a:rPr lang="en-IN" dirty="0"/>
              <a:t> model, it understands user queries, retrieves relevant information from trusted environmental documents through </a:t>
            </a:r>
            <a:r>
              <a:rPr lang="en-IN" b="1" dirty="0"/>
              <a:t>Retrieval-Augmented Generation (RAG)</a:t>
            </a:r>
            <a:r>
              <a:rPr lang="en-IN" dirty="0"/>
              <a:t>, and generates accurate, context-aware responses. It provides personalized recommendations on </a:t>
            </a:r>
            <a:r>
              <a:rPr lang="en-IN" b="1" dirty="0"/>
              <a:t>waste management, recycling, plastic reduction, water conservation, energy saving, and sustainable living</a:t>
            </a:r>
            <a:r>
              <a:rPr lang="en-IN" dirty="0"/>
              <a:t>. By combining document retrieval with AI reasoning, the system delivers reliable, real-time guidance that helps users make environmentally responsible decisions and encourages the adoption of sustainable practices in their daily lives.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441787" y="34024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dirty="0">
                <a:solidFill>
                  <a:srgbClr val="000000"/>
                </a:solidFill>
                <a:latin typeface="Arial"/>
                <a:ea typeface="Arial"/>
                <a:cs typeface="Arial"/>
                <a:sym typeface="Arial"/>
              </a:rPr>
              <a:t> </a:t>
            </a:r>
            <a:r>
              <a:rPr lang="en-US" sz="2800" b="1" dirty="0"/>
              <a:t>Application User Interface</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441788" y="5257570"/>
            <a:ext cx="5399455" cy="1414693"/>
          </a:xfrm>
          <a:prstGeom prst="rect">
            <a:avLst/>
          </a:prstGeom>
          <a:noFill/>
          <a:ln>
            <a:noFill/>
          </a:ln>
        </p:spPr>
        <p:txBody>
          <a:bodyPr spcFirstLastPara="1" wrap="square" lIns="0" tIns="0" rIns="0" bIns="0" anchor="t" anchorCtr="0">
            <a:noAutofit/>
          </a:bodyPr>
          <a:lstStyle/>
          <a:p>
            <a:pPr marL="342900" indent="-342900">
              <a:lnSpc>
                <a:spcPct val="150000"/>
              </a:lnSpc>
              <a:buClr>
                <a:srgbClr val="2B3541"/>
              </a:buClr>
              <a:buSzPts val="1850"/>
              <a:buFont typeface="Wingdings" panose="05000000000000000000" pitchFamily="2" charset="2"/>
              <a:buChar char="Ø"/>
            </a:pPr>
            <a:r>
              <a:rPr lang="en-IN" sz="2000" i="1" dirty="0"/>
              <a:t>Displays the AI-generated response based on relevant environmental documents retrieved using RAG.</a:t>
            </a:r>
            <a:endParaRPr lang="en-IN" sz="2000" dirty="0"/>
          </a:p>
        </p:txBody>
      </p:sp>
      <p:pic>
        <p:nvPicPr>
          <p:cNvPr id="149" name="Google Shape;149;p39"/>
          <p:cNvPicPr preferRelativeResize="0"/>
          <p:nvPr/>
        </p:nvPicPr>
        <p:blipFill>
          <a:blip r:embed="rId3">
            <a:alphaModFix/>
          </a:blip>
          <a:srcRect/>
          <a:stretch/>
        </p:blipFill>
        <p:spPr>
          <a:xfrm>
            <a:off x="441787" y="2454219"/>
            <a:ext cx="5399456" cy="2578042"/>
          </a:xfrm>
          <a:prstGeom prst="rect">
            <a:avLst/>
          </a:prstGeom>
          <a:noFill/>
          <a:ln>
            <a:noFill/>
          </a:ln>
        </p:spPr>
      </p:pic>
      <p:pic>
        <p:nvPicPr>
          <p:cNvPr id="150" name="Google Shape;150;p39"/>
          <p:cNvPicPr preferRelativeResize="0"/>
          <p:nvPr/>
        </p:nvPicPr>
        <p:blipFill>
          <a:blip r:embed="rId4">
            <a:alphaModFix/>
          </a:blip>
          <a:srcRect/>
          <a:stretch/>
        </p:blipFill>
        <p:spPr>
          <a:xfrm>
            <a:off x="6096000" y="2399884"/>
            <a:ext cx="5654213" cy="2686711"/>
          </a:xfrm>
          <a:prstGeom prst="rect">
            <a:avLst/>
          </a:prstGeom>
          <a:noFill/>
          <a:ln>
            <a:noFill/>
          </a:ln>
        </p:spPr>
      </p:pic>
      <p:sp>
        <p:nvSpPr>
          <p:cNvPr id="152" name="Google Shape;152;p39"/>
          <p:cNvSpPr txBox="1"/>
          <p:nvPr/>
        </p:nvSpPr>
        <p:spPr>
          <a:xfrm>
            <a:off x="6096000" y="1696489"/>
            <a:ext cx="3754028" cy="400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dirty="0"/>
              <a:t>Home Page</a:t>
            </a:r>
            <a:endParaRPr b="1" dirty="0"/>
          </a:p>
        </p:txBody>
      </p:sp>
      <p:sp>
        <p:nvSpPr>
          <p:cNvPr id="2" name="TextBox 1">
            <a:extLst>
              <a:ext uri="{FF2B5EF4-FFF2-40B4-BE49-F238E27FC236}">
                <a16:creationId xmlns:a16="http://schemas.microsoft.com/office/drawing/2014/main" id="{9B5AF33B-DDB9-E6FC-A295-E14E19BD25E0}"/>
              </a:ext>
            </a:extLst>
          </p:cNvPr>
          <p:cNvSpPr txBox="1"/>
          <p:nvPr/>
        </p:nvSpPr>
        <p:spPr>
          <a:xfrm>
            <a:off x="441787" y="1828840"/>
            <a:ext cx="4196002" cy="400070"/>
          </a:xfrm>
          <a:prstGeom prst="rect">
            <a:avLst/>
          </a:prstGeom>
          <a:noFill/>
        </p:spPr>
        <p:txBody>
          <a:bodyPr wrap="square" rtlCol="0">
            <a:spAutoFit/>
          </a:bodyPr>
          <a:lstStyle/>
          <a:p>
            <a:r>
              <a:rPr lang="en-IN" sz="2000" b="1" dirty="0"/>
              <a:t>AI Response Screen</a:t>
            </a:r>
          </a:p>
        </p:txBody>
      </p:sp>
      <p:sp>
        <p:nvSpPr>
          <p:cNvPr id="3" name="TextBox 2">
            <a:extLst>
              <a:ext uri="{FF2B5EF4-FFF2-40B4-BE49-F238E27FC236}">
                <a16:creationId xmlns:a16="http://schemas.microsoft.com/office/drawing/2014/main" id="{3C9B28BC-91F7-CE9C-393B-CAEB6678C5BE}"/>
              </a:ext>
            </a:extLst>
          </p:cNvPr>
          <p:cNvSpPr txBox="1"/>
          <p:nvPr/>
        </p:nvSpPr>
        <p:spPr>
          <a:xfrm>
            <a:off x="6096000" y="5251938"/>
            <a:ext cx="5548313" cy="1420325"/>
          </a:xfrm>
          <a:prstGeom prst="rect">
            <a:avLst/>
          </a:prstGeom>
          <a:noFill/>
        </p:spPr>
        <p:txBody>
          <a:bodyPr wrap="square" rtlCol="0" anchor="t">
            <a:spAutoFit/>
          </a:bodyPr>
          <a:lstStyle/>
          <a:p>
            <a:pPr marL="342900" lvl="1" indent="-342900">
              <a:lnSpc>
                <a:spcPct val="150000"/>
              </a:lnSpc>
              <a:buFont typeface="Wingdings" panose="05000000000000000000" pitchFamily="2" charset="2"/>
              <a:buChar char="Ø"/>
            </a:pPr>
            <a:r>
              <a:rPr lang="en-IN" sz="2000" i="1" dirty="0"/>
              <a:t>Allows users to enter sustainability-related questions through an interactive </a:t>
            </a:r>
            <a:r>
              <a:rPr lang="en-IN" sz="2000" i="1" dirty="0" err="1"/>
              <a:t>Streamlit</a:t>
            </a:r>
            <a:r>
              <a:rPr lang="en-IN" sz="2000" i="1" dirty="0"/>
              <a:t> interface.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301984" cy="4462720"/>
          </a:xfrm>
          <a:prstGeom prst="rect">
            <a:avLst/>
          </a:prstGeom>
          <a:noFill/>
          <a:ln>
            <a:noFill/>
          </a:ln>
        </p:spPr>
        <p:txBody>
          <a:bodyPr spcFirstLastPara="1" wrap="square" lIns="91425" tIns="45700" rIns="91425" bIns="45700" anchor="t" anchorCtr="0">
            <a:spAutoFit/>
          </a:bodyPr>
          <a:lstStyle/>
          <a:p>
            <a:pPr lvl="0"/>
            <a:r>
              <a:rPr lang="en-IN" sz="1800" dirty="0"/>
              <a:t>The proposed </a:t>
            </a:r>
            <a:r>
              <a:rPr lang="en-IN" sz="1800" b="1" dirty="0"/>
              <a:t>Eco Lifestyle Agent</a:t>
            </a:r>
            <a:r>
              <a:rPr lang="en-IN" sz="1800" dirty="0"/>
              <a:t> combines </a:t>
            </a:r>
            <a:r>
              <a:rPr lang="en-IN" sz="1800" b="1" dirty="0"/>
              <a:t>Agentic AI, Retrieval-Augmented Generation (RAG), and IBM Granite</a:t>
            </a:r>
            <a:r>
              <a:rPr lang="en-IN" sz="1800" dirty="0"/>
              <a:t> to deliver accurate and intelligent environmental guidance.</a:t>
            </a:r>
          </a:p>
          <a:p>
            <a:pPr lvl="0"/>
            <a:endParaRPr lang="en-IN" sz="1800" b="0" i="0" u="none" strike="noStrike" cap="none" dirty="0">
              <a:solidFill>
                <a:srgbClr val="000000"/>
              </a:solidFill>
              <a:latin typeface="Arial"/>
              <a:ea typeface="Arial"/>
              <a:cs typeface="Arial"/>
              <a:sym typeface="Arial"/>
            </a:endParaRPr>
          </a:p>
          <a:p>
            <a:pPr lvl="0"/>
            <a:r>
              <a:rPr lang="en-IN" sz="1800" b="1" dirty="0"/>
              <a:t>RAG-Based Responses</a:t>
            </a:r>
            <a:r>
              <a:rPr lang="en-IN" sz="1800" dirty="0"/>
              <a:t> – Retrieves information from trusted government environmental documents for reliable answers.</a:t>
            </a:r>
          </a:p>
          <a:p>
            <a:pPr lvl="0"/>
            <a:r>
              <a:rPr lang="en-IN" sz="1800" b="1" dirty="0"/>
              <a:t>AI-Powered Assistance</a:t>
            </a:r>
            <a:r>
              <a:rPr lang="en-IN" sz="1800" dirty="0"/>
              <a:t> – Uses IBM Granite to generate context-aware and easy-to-understand eco-friendly recommendations.</a:t>
            </a:r>
          </a:p>
          <a:p>
            <a:pPr lvl="0"/>
            <a:r>
              <a:rPr lang="en-IN" sz="1800" b="1" dirty="0"/>
              <a:t>Semantic Search</a:t>
            </a:r>
            <a:r>
              <a:rPr lang="en-IN" sz="1800" dirty="0"/>
              <a:t> – Employs FAISS vector search to find the most relevant information quickly.</a:t>
            </a:r>
          </a:p>
          <a:p>
            <a:pPr lvl="0"/>
            <a:r>
              <a:rPr lang="en-IN" sz="1800" b="1" dirty="0"/>
              <a:t>Personalized Guidance</a:t>
            </a:r>
            <a:r>
              <a:rPr lang="en-IN" sz="1800" dirty="0"/>
              <a:t> – Provides practical suggestions based on the user's environmental queries. </a:t>
            </a:r>
            <a:r>
              <a:rPr lang="en-IN" sz="1800" b="1" dirty="0"/>
              <a:t>Interactive Chat Interface</a:t>
            </a:r>
            <a:r>
              <a:rPr lang="en-IN" sz="1800" dirty="0"/>
              <a:t> – Offers a simple </a:t>
            </a:r>
            <a:r>
              <a:rPr lang="en-IN" sz="1800" dirty="0" err="1"/>
              <a:t>Streamlit</a:t>
            </a:r>
            <a:r>
              <a:rPr lang="en-IN" sz="1800" dirty="0"/>
              <a:t>-based chatbot for real-time question answering. </a:t>
            </a:r>
            <a:r>
              <a:rPr lang="en-IN" sz="1800" b="1" dirty="0"/>
              <a:t>Scalable &amp; Reliable</a:t>
            </a:r>
            <a:r>
              <a:rPr lang="en-IN" sz="1800" dirty="0"/>
              <a:t> – Built using IBM watsonx.ai, IBM Granite, </a:t>
            </a:r>
            <a:r>
              <a:rPr lang="en-IN" sz="1800" dirty="0" err="1"/>
              <a:t>LangChain</a:t>
            </a:r>
            <a:r>
              <a:rPr lang="en-IN" sz="1800" dirty="0"/>
              <a:t>, and FAISS for efficient and trustworthy performance.</a:t>
            </a:r>
          </a:p>
          <a:p>
            <a:pPr lvl="0"/>
            <a:endParaRPr lang="en-IN" sz="1800" b="0" i="0" u="none" strike="noStrike" cap="none" dirty="0">
              <a:solidFill>
                <a:srgbClr val="000000"/>
              </a:solidFill>
              <a:latin typeface="Arial"/>
              <a:ea typeface="Arial"/>
              <a:cs typeface="Arial"/>
              <a:sym typeface="Arial"/>
            </a:endParaRPr>
          </a:p>
          <a:p>
            <a:pPr lvl="0"/>
            <a:r>
              <a:rPr lang="en-IN" sz="1800" dirty="0"/>
              <a:t>This makes the solution an intelligent Eco Lifestyle Assistant that promotes sustainable living through accurate, AI-powered environmental guidance rather than a simple chatbot.</a:t>
            </a:r>
            <a:r>
              <a:rPr lang="en-US" sz="18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554712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 				</a:t>
            </a:r>
            <a:r>
              <a:rPr lang="en-IN" sz="1850" b="1" dirty="0">
                <a:latin typeface="Arial" panose="020B0604020202020204" pitchFamily="34" charset="0"/>
                <a:ea typeface="Times New Roman"/>
                <a:cs typeface="Arial" panose="020B0604020202020204" pitchFamily="34" charset="0"/>
                <a:sym typeface="Times New Roman"/>
              </a:rPr>
              <a:t>GitHub Repository</a:t>
            </a:r>
          </a:p>
          <a:p>
            <a:pPr lvl="0">
              <a:lnSpc>
                <a:spcPct val="162162"/>
              </a:lnSpc>
              <a:buClr>
                <a:srgbClr val="2B3541"/>
              </a:buClr>
              <a:buSzPts val="1850"/>
            </a:pPr>
            <a:r>
              <a:rPr lang="en-IN" b="1" dirty="0">
                <a:latin typeface="Arial" panose="020B0604020202020204" pitchFamily="34" charset="0"/>
                <a:ea typeface="Times New Roman"/>
                <a:cs typeface="Arial" panose="020B0604020202020204" pitchFamily="34" charset="0"/>
                <a:sym typeface="Times New Roman"/>
              </a:rPr>
              <a:t>Project Name:</a:t>
            </a:r>
            <a:r>
              <a:rPr lang="en-IN" dirty="0">
                <a:latin typeface="Arial" panose="020B0604020202020204" pitchFamily="34" charset="0"/>
                <a:ea typeface="Times New Roman"/>
                <a:cs typeface="Arial" panose="020B0604020202020204" pitchFamily="34" charset="0"/>
                <a:sym typeface="Times New Roman"/>
              </a:rPr>
              <a:t> Eco Lifestyle Agent</a:t>
            </a:r>
          </a:p>
          <a:p>
            <a:pPr lvl="0">
              <a:lnSpc>
                <a:spcPct val="162162"/>
              </a:lnSpc>
              <a:buClr>
                <a:srgbClr val="2B3541"/>
              </a:buClr>
              <a:buSzPts val="1850"/>
            </a:pPr>
            <a:r>
              <a:rPr lang="en-IN" b="1" dirty="0">
                <a:latin typeface="Arial" panose="020B0604020202020204" pitchFamily="34" charset="0"/>
                <a:ea typeface="Times New Roman"/>
                <a:cs typeface="Arial" panose="020B0604020202020204" pitchFamily="34" charset="0"/>
                <a:sym typeface="Times New Roman"/>
              </a:rPr>
              <a:t>Repository Link:</a:t>
            </a:r>
            <a:r>
              <a:rPr lang="en-IN" dirty="0">
                <a:latin typeface="Arial" panose="020B0604020202020204" pitchFamily="34" charset="0"/>
                <a:ea typeface="Times New Roman"/>
                <a:cs typeface="Arial" panose="020B0604020202020204" pitchFamily="34" charset="0"/>
                <a:sym typeface="Times New Roman"/>
              </a:rPr>
              <a:t> https://github.com/arya8848/EcoLifestyleAgent</a:t>
            </a:r>
          </a:p>
          <a:p>
            <a:pPr lvl="0">
              <a:lnSpc>
                <a:spcPct val="162162"/>
              </a:lnSpc>
              <a:buClr>
                <a:srgbClr val="2B3541"/>
              </a:buClr>
              <a:buSzPts val="1850"/>
            </a:pPr>
            <a:r>
              <a:rPr lang="en-IN" b="1" dirty="0">
                <a:latin typeface="Arial" panose="020B0604020202020204" pitchFamily="34" charset="0"/>
                <a:ea typeface="Times New Roman"/>
                <a:cs typeface="Arial" panose="020B0604020202020204" pitchFamily="34" charset="0"/>
                <a:sym typeface="Times New Roman"/>
              </a:rPr>
              <a:t>Repository Includes:</a:t>
            </a:r>
          </a:p>
          <a:p>
            <a:pPr marL="285750" lvl="1"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Source Code</a:t>
            </a:r>
          </a:p>
          <a:p>
            <a:pPr marL="285750" lvl="0"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README.md</a:t>
            </a:r>
          </a:p>
          <a:p>
            <a:pPr marL="285750" lvl="0"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Problem Statement.pdf</a:t>
            </a:r>
          </a:p>
          <a:p>
            <a:pPr marL="285750" lvl="0"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Presentation.pptx</a:t>
            </a:r>
          </a:p>
          <a:p>
            <a:pPr marL="285750" lvl="0"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Requirements.txt</a:t>
            </a:r>
          </a:p>
          <a:p>
            <a:pPr marL="285750" lvl="0"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Vector Database</a:t>
            </a:r>
          </a:p>
          <a:p>
            <a:pPr marL="285750" lvl="0" indent="-285750">
              <a:lnSpc>
                <a:spcPct val="162162"/>
              </a:lnSpc>
              <a:buClr>
                <a:srgbClr val="2B3541"/>
              </a:buClr>
              <a:buSzPts val="1850"/>
              <a:buFont typeface="Arial" panose="020B0604020202020204" pitchFamily="34" charset="0"/>
              <a:buChar char="•"/>
            </a:pPr>
            <a:r>
              <a:rPr lang="en-IN" dirty="0">
                <a:latin typeface="Arial" panose="020B0604020202020204" pitchFamily="34" charset="0"/>
                <a:ea typeface="Times New Roman"/>
                <a:cs typeface="Arial" panose="020B0604020202020204" pitchFamily="34" charset="0"/>
                <a:sym typeface="Times New Roman"/>
              </a:rPr>
              <a:t>Environmental PDFs</a:t>
            </a:r>
          </a:p>
          <a:p>
            <a:pPr lvl="0">
              <a:lnSpc>
                <a:spcPct val="162162"/>
              </a:lnSpc>
              <a:buClr>
                <a:srgbClr val="2B3541"/>
              </a:buClr>
              <a:buSzPts val="1850"/>
            </a:pPr>
            <a:r>
              <a:rPr lang="en-IN"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b="1" dirty="0">
                <a:solidFill>
                  <a:srgbClr val="2B3541"/>
                </a:solidFill>
                <a:latin typeface="Arial" panose="020B0604020202020204" pitchFamily="34" charset="0"/>
                <a:cs typeface="Arial" panose="020B0604020202020204" pitchFamily="34" charset="0"/>
                <a:sym typeface="Times New Roman"/>
              </a:rPr>
              <a:t>1.</a:t>
            </a:r>
            <a:r>
              <a:rPr lang="en-IN" b="1" dirty="0">
                <a:latin typeface="Arial" panose="020B0604020202020204" pitchFamily="34" charset="0"/>
                <a:cs typeface="Arial" panose="020B0604020202020204" pitchFamily="34" charset="0"/>
              </a:rPr>
              <a:t> Smart Eco Monitoring &amp; Personalized Recommendations –</a:t>
            </a:r>
            <a:br>
              <a:rPr lang="en-IN" b="1" dirty="0">
                <a:latin typeface="Arial" panose="020B0604020202020204" pitchFamily="34" charset="0"/>
                <a:cs typeface="Arial" panose="020B0604020202020204" pitchFamily="34" charset="0"/>
              </a:rPr>
            </a:br>
            <a:r>
              <a:rPr lang="en-IN" dirty="0">
                <a:latin typeface="Arial" panose="020B0604020202020204" pitchFamily="34" charset="0"/>
                <a:cs typeface="Arial" panose="020B0604020202020204" pitchFamily="34" charset="0"/>
              </a:rPr>
              <a:t>The system can be integrated with IoT devices and smart home sensors to monitor electricity usage, water consumption, and waste generation in real time. This will enable the Eco Lifestyle Agent to provide personalized sustainability recommendations and help users reduce their environmental impact through data-driven insights.</a:t>
            </a:r>
          </a:p>
          <a:p>
            <a:pPr lvl="0">
              <a:lnSpc>
                <a:spcPct val="162162"/>
              </a:lnSpc>
              <a:buClr>
                <a:srgbClr val="2B3541"/>
              </a:buClr>
              <a:buSzPts val="1850"/>
            </a:pPr>
            <a:endParaRPr lang="en-US" dirty="0">
              <a:latin typeface="Arial" panose="020B0604020202020204" pitchFamily="34" charset="0"/>
              <a:cs typeface="Arial" panose="020B0604020202020204" pitchFamily="34" charset="0"/>
            </a:endParaRPr>
          </a:p>
          <a:p>
            <a:pPr lvl="0">
              <a:lnSpc>
                <a:spcPct val="162162"/>
              </a:lnSpc>
              <a:buClr>
                <a:srgbClr val="2B3541"/>
              </a:buClr>
              <a:buSzPts val="1850"/>
            </a:pPr>
            <a:r>
              <a:rPr lang="en-US" b="1" i="0" u="none" strike="noStrike" cap="none" dirty="0">
                <a:solidFill>
                  <a:srgbClr val="2B3541"/>
                </a:solidFill>
                <a:latin typeface="+mn-lt"/>
                <a:ea typeface="Times New Roman"/>
                <a:cs typeface="Times New Roman"/>
                <a:sym typeface="Times New Roman"/>
              </a:rPr>
              <a:t>2.</a:t>
            </a:r>
            <a:r>
              <a:rPr lang="en-IN" b="1" dirty="0"/>
              <a:t> AI-Powered Voice Assistant &amp; Multi-language Support –</a:t>
            </a:r>
            <a:br>
              <a:rPr lang="en-IN" dirty="0"/>
            </a:br>
            <a:r>
              <a:rPr lang="en-IN" dirty="0"/>
              <a:t>Enhancing the system with a voice-enabled assistant and support for multiple languages will improve accessibility and user experience. Users will be able to interact naturally in their preferred language, making the solution more inclusive and encouraging wider adoption of eco-friendly practices across diverse communities.</a:t>
            </a:r>
            <a:endParaRPr b="1" i="0" u="none" strike="noStrike" cap="none" dirty="0">
              <a:solidFill>
                <a:srgbClr val="000000"/>
              </a:solidFill>
              <a:latin typeface="+mn-lt"/>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43"/>
          <p:cNvPicPr preferRelativeResize="0"/>
          <p:nvPr/>
        </p:nvPicPr>
        <p:blipFill>
          <a:blip r:embed="rId3">
            <a:alphaModFix/>
          </a:blip>
          <a:srcRect/>
          <a:stretch/>
        </p:blipFill>
        <p:spPr>
          <a:xfrm>
            <a:off x="3119025" y="1455097"/>
            <a:ext cx="5953949" cy="4520796"/>
          </a:xfrm>
          <a:prstGeom prst="rect">
            <a:avLst/>
          </a:prstGeom>
          <a:noFill/>
          <a:ln>
            <a:noFill/>
          </a:ln>
        </p:spPr>
      </p:pic>
      <p:sp>
        <p:nvSpPr>
          <p:cNvPr id="182" name="Google Shape;182;p43"/>
          <p:cNvSpPr txBox="1"/>
          <p:nvPr/>
        </p:nvSpPr>
        <p:spPr>
          <a:xfrm>
            <a:off x="606477" y="482315"/>
            <a:ext cx="595395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endParaRPr sz="2800" dirty="0"/>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4D7D8-40AE-767F-8DD6-EBCCE83BC48A}"/>
              </a:ext>
            </a:extLst>
          </p:cNvPr>
          <p:cNvSpPr>
            <a:spLocks noGrp="1"/>
          </p:cNvSpPr>
          <p:nvPr>
            <p:ph type="title"/>
          </p:nvPr>
        </p:nvSpPr>
        <p:spPr>
          <a:xfrm>
            <a:off x="838200" y="365126"/>
            <a:ext cx="10515600" cy="808582"/>
          </a:xfrm>
        </p:spPr>
        <p:txBody>
          <a:bodyPr>
            <a:normAutofit/>
          </a:bodyPr>
          <a:lstStyle/>
          <a:p>
            <a:r>
              <a:rPr lang="en-US" sz="2800" b="1" dirty="0">
                <a:solidFill>
                  <a:srgbClr val="000000"/>
                </a:solidFill>
                <a:latin typeface="Arial"/>
                <a:ea typeface="Arial"/>
                <a:cs typeface="Arial"/>
                <a:sym typeface="Arial"/>
              </a:rPr>
              <a:t>Certificates Earned:</a:t>
            </a:r>
            <a:endParaRPr lang="en-IN" dirty="0"/>
          </a:p>
        </p:txBody>
      </p:sp>
      <p:pic>
        <p:nvPicPr>
          <p:cNvPr id="5" name="Picture 4">
            <a:extLst>
              <a:ext uri="{FF2B5EF4-FFF2-40B4-BE49-F238E27FC236}">
                <a16:creationId xmlns:a16="http://schemas.microsoft.com/office/drawing/2014/main" id="{CB61CD83-5E97-7805-270D-0733C76E106C}"/>
              </a:ext>
            </a:extLst>
          </p:cNvPr>
          <p:cNvPicPr>
            <a:picLocks noChangeAspect="1"/>
          </p:cNvPicPr>
          <p:nvPr/>
        </p:nvPicPr>
        <p:blipFill>
          <a:blip r:embed="rId2"/>
          <a:stretch>
            <a:fillRect/>
          </a:stretch>
        </p:blipFill>
        <p:spPr>
          <a:xfrm>
            <a:off x="3178223" y="1443478"/>
            <a:ext cx="5835554" cy="4531057"/>
          </a:xfrm>
          <a:prstGeom prst="rect">
            <a:avLst/>
          </a:prstGeom>
        </p:spPr>
      </p:pic>
    </p:spTree>
    <p:extLst>
      <p:ext uri="{BB962C8B-B14F-4D97-AF65-F5344CB8AC3E}">
        <p14:creationId xmlns:p14="http://schemas.microsoft.com/office/powerpoint/2010/main" val="1623893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a:blip r:embed="rId3">
            <a:alphaModFix/>
          </a:blip>
          <a:srcRect l="2506" r="2506"/>
          <a:stretch/>
        </p:blipFill>
        <p:spPr>
          <a:xfrm>
            <a:off x="2512736" y="1712637"/>
            <a:ext cx="7177553" cy="4658577"/>
          </a:xfrm>
          <a:prstGeom prst="rect">
            <a:avLst/>
          </a:prstGeom>
          <a:noFill/>
          <a:ln>
            <a:noFill/>
          </a:ln>
        </p:spPr>
      </p:pic>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1407</Words>
  <Application>Microsoft Office PowerPoint</Application>
  <PresentationFormat>Widescreen</PresentationFormat>
  <Paragraphs>127</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Certificates Earned: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ARYA L</cp:lastModifiedBy>
  <cp:revision>1</cp:revision>
  <dcterms:created xsi:type="dcterms:W3CDTF">2025-07-08T05:06:56Z</dcterms:created>
  <dcterms:modified xsi:type="dcterms:W3CDTF">2026-07-11T11:27:00Z</dcterms:modified>
</cp:coreProperties>
</file>